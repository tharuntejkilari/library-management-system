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8" r:id="rId3"/>
    <p:sldId id="275" r:id="rId4"/>
    <p:sldId id="274"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59" r:id="rId21"/>
  </p:sldIdLst>
  <p:sldSz cx="12192000" cy="6858000"/>
  <p:notesSz cx="6858000" cy="9144000"/>
  <p:embeddedFontLst>
    <p:embeddedFont>
      <p:font typeface="Lato Black" panose="020F0502020204030203" pitchFamily="34" charset="0"/>
      <p:bold r:id="rId23"/>
      <p:boldItalic r:id="rId24"/>
    </p:embeddedFont>
    <p:embeddedFont>
      <p:font typeface="Libre Baskerville" panose="02000000000000000000" pitchFamily="2" charset="0"/>
      <p:regular r:id="rId25"/>
      <p:bold r:id="rId26"/>
      <p: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0000"/>
    <a:srgbClr val="C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99" name="Google Shape;99;p1"/>
          <p:cNvSpPr txBox="1"/>
          <p:nvPr/>
        </p:nvSpPr>
        <p:spPr>
          <a:xfrm>
            <a:off x="2472904" y="3924463"/>
            <a:ext cx="7246189" cy="1323399"/>
          </a:xfrm>
          <a:prstGeom prst="rect">
            <a:avLst/>
          </a:prstGeom>
          <a:noFill/>
          <a:ln>
            <a:noFill/>
          </a:ln>
        </p:spPr>
        <p:txBody>
          <a:bodyPr spcFirstLastPara="1" wrap="square" lIns="91425" tIns="45700" rIns="91425" bIns="45700" anchor="t" anchorCtr="0">
            <a:spAutoFit/>
          </a:bodyPr>
          <a:lstStyle/>
          <a:p>
            <a:pPr lvl="0" algn="ctr">
              <a:buSzPts val="1800"/>
            </a:pPr>
            <a:r>
              <a:rPr lang="en-IN" sz="4000" b="1" dirty="0">
                <a:solidFill>
                  <a:srgbClr val="EA0000"/>
                </a:solidFill>
                <a:latin typeface="Times New Roman" panose="02020603050405020304" pitchFamily="18" charset="0"/>
                <a:cs typeface="Times New Roman" panose="02020603050405020304" pitchFamily="18" charset="0"/>
              </a:rPr>
              <a:t>Library Database Management System</a:t>
            </a:r>
            <a:endParaRPr sz="4000" b="0" i="0" strike="noStrike" cap="none" dirty="0">
              <a:solidFill>
                <a:srgbClr val="EA0000"/>
              </a:solidFill>
              <a:latin typeface="Times New Roman" panose="02020603050405020304" pitchFamily="18" charset="0"/>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3AE6BEEB-503B-EB1E-0BE5-00200455968D}"/>
              </a:ext>
            </a:extLst>
          </p:cNvPr>
          <p:cNvSpPr txBox="1"/>
          <p:nvPr/>
        </p:nvSpPr>
        <p:spPr>
          <a:xfrm>
            <a:off x="8794860" y="5380672"/>
            <a:ext cx="2364752" cy="1200329"/>
          </a:xfrm>
          <a:prstGeom prst="rect">
            <a:avLst/>
          </a:prstGeom>
          <a:noFill/>
        </p:spPr>
        <p:txBody>
          <a:bodyPr wrap="square" rtlCol="0">
            <a:spAutoFit/>
          </a:bodyPr>
          <a:lstStyle/>
          <a:p>
            <a:r>
              <a:rPr lang="en-IN" sz="1800" dirty="0">
                <a:solidFill>
                  <a:schemeClr val="tx1"/>
                </a:solidFill>
                <a:latin typeface="Times New Roman" panose="02020603050405020304" pitchFamily="18" charset="0"/>
                <a:cs typeface="Times New Roman" panose="02020603050405020304" pitchFamily="18" charset="0"/>
              </a:rPr>
              <a:t>Batch No : 460</a:t>
            </a:r>
          </a:p>
          <a:p>
            <a:r>
              <a:rPr lang="en-IN" sz="1800" dirty="0">
                <a:solidFill>
                  <a:schemeClr val="tx1"/>
                </a:solidFill>
                <a:latin typeface="Times New Roman" panose="02020603050405020304" pitchFamily="18" charset="0"/>
                <a:cs typeface="Times New Roman" panose="02020603050405020304" pitchFamily="18" charset="0"/>
              </a:rPr>
              <a:t>Tharun Tej Kilari</a:t>
            </a:r>
          </a:p>
          <a:p>
            <a:r>
              <a:rPr lang="en-IN" sz="1800" dirty="0">
                <a:solidFill>
                  <a:schemeClr val="tx1"/>
                </a:solidFill>
                <a:latin typeface="Times New Roman" panose="02020603050405020304" pitchFamily="18" charset="0"/>
                <a:cs typeface="Times New Roman" panose="02020603050405020304" pitchFamily="18" charset="0"/>
              </a:rPr>
              <a:t>Abhinav Reddy </a:t>
            </a:r>
          </a:p>
          <a:p>
            <a:r>
              <a:rPr lang="en-IN" sz="1800" dirty="0">
                <a:solidFill>
                  <a:schemeClr val="tx1"/>
                </a:solidFill>
                <a:latin typeface="Times New Roman" panose="02020603050405020304" pitchFamily="18" charset="0"/>
                <a:cs typeface="Times New Roman" panose="02020603050405020304" pitchFamily="18" charset="0"/>
              </a:rPr>
              <a:t>Varun </a:t>
            </a:r>
            <a:r>
              <a:rPr lang="en-IN" sz="1800" dirty="0" err="1">
                <a:solidFill>
                  <a:schemeClr val="tx1"/>
                </a:solidFill>
                <a:latin typeface="Times New Roman" panose="02020603050405020304" pitchFamily="18" charset="0"/>
                <a:cs typeface="Times New Roman" panose="02020603050405020304" pitchFamily="18" charset="0"/>
              </a:rPr>
              <a:t>Chekuru</a:t>
            </a:r>
            <a:endParaRPr lang="en-I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a:solidFill>
                  <a:srgbClr val="FF0000"/>
                </a:solidFill>
              </a:rPr>
              <a:t>Agenda (This should be the PPT flow)  </a:t>
            </a:r>
            <a:endParaRPr b="1">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Objective of the Project</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ER Diagram and schema explanation</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Key analysis questions (use cases)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SQL query results with screenshots or summaries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Final business insights and recommendations</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Conclusion (Key finding overall) </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Q&amp;A Slide </a:t>
            </a:r>
            <a:endParaRPr sz="2400"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r>
              <a:rPr lang="en-IN" sz="2400" b="1" dirty="0">
                <a:latin typeface="Times New Roman" panose="02020603050405020304" pitchFamily="18" charset="0"/>
                <a:cs typeface="Times New Roman" panose="02020603050405020304" pitchFamily="18" charset="0"/>
              </a:rPr>
              <a:t>Your Experience/Challenges working on SQL – Data Analysis Project.</a:t>
            </a:r>
            <a:endParaRPr sz="2400"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519D2-9ECF-1DDB-2CE4-E4E5B1A17B23}"/>
              </a:ext>
            </a:extLst>
          </p:cNvPr>
          <p:cNvSpPr>
            <a:spLocks noGrp="1"/>
          </p:cNvSpPr>
          <p:nvPr>
            <p:ph type="title"/>
          </p:nvPr>
        </p:nvSpPr>
        <p:spPr>
          <a:xfrm>
            <a:off x="838200" y="365125"/>
            <a:ext cx="10515600" cy="775417"/>
          </a:xfrm>
        </p:spPr>
        <p:txBody>
          <a:bodyPr>
            <a:normAutofit/>
          </a:bodyPr>
          <a:lstStyle/>
          <a:p>
            <a:r>
              <a:rPr lang="en-IN" sz="4000" dirty="0">
                <a:solidFill>
                  <a:srgbClr val="EA0000"/>
                </a:solidFill>
                <a:latin typeface="Lato Black" panose="020F0502020204030203" pitchFamily="34" charset="0"/>
                <a:ea typeface="Lato Black" panose="020F0502020204030203" pitchFamily="34" charset="0"/>
                <a:cs typeface="Lato Black" panose="020F0502020204030203" pitchFamily="34" charset="0"/>
              </a:rPr>
              <a:t>Business Problem Statement</a:t>
            </a:r>
          </a:p>
        </p:txBody>
      </p:sp>
      <p:sp>
        <p:nvSpPr>
          <p:cNvPr id="3" name="Text Placeholder 2">
            <a:extLst>
              <a:ext uri="{FF2B5EF4-FFF2-40B4-BE49-F238E27FC236}">
                <a16:creationId xmlns:a16="http://schemas.microsoft.com/office/drawing/2014/main" id="{BA26592B-4E8B-10E6-19CB-7469864638B6}"/>
              </a:ext>
            </a:extLst>
          </p:cNvPr>
          <p:cNvSpPr>
            <a:spLocks noGrp="1"/>
          </p:cNvSpPr>
          <p:nvPr>
            <p:ph type="body" idx="1"/>
          </p:nvPr>
        </p:nvSpPr>
        <p:spPr>
          <a:xfrm>
            <a:off x="838200" y="1248697"/>
            <a:ext cx="10515600" cy="4928266"/>
          </a:xfrm>
        </p:spPr>
        <p:txBody>
          <a:bodyPr>
            <a:normAutofit lnSpcReduction="1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Libraries often struggle to manage book inventory, borrower records, and branch operations efficiently due to manual processes and disconnected systems. This leads to issues such as inaccurate stock tracking, difficulty in monitoring book availability, delayed return management, and limited insights into borrower behavior and branch performance.</a:t>
            </a:r>
          </a:p>
          <a:p>
            <a:pPr marL="11430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a need for a centralized Library Management System that can store, manage, and analyze data related to books, borrowers, branches, and loans. The system should provide real-time visibility into inventory, improve circulation management, and support data-driven decision-making to enhance operational efficiency and user satisfaction.</a:t>
            </a:r>
          </a:p>
          <a:p>
            <a:endParaRPr lang="en-IN" dirty="0"/>
          </a:p>
        </p:txBody>
      </p:sp>
    </p:spTree>
    <p:extLst>
      <p:ext uri="{BB962C8B-B14F-4D97-AF65-F5344CB8AC3E}">
        <p14:creationId xmlns:p14="http://schemas.microsoft.com/office/powerpoint/2010/main" val="2634940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0F360-5160-4F8E-2D1B-E6E6722E6B94}"/>
              </a:ext>
            </a:extLst>
          </p:cNvPr>
          <p:cNvSpPr>
            <a:spLocks noGrp="1"/>
          </p:cNvSpPr>
          <p:nvPr>
            <p:ph type="title"/>
          </p:nvPr>
        </p:nvSpPr>
        <p:spPr>
          <a:xfrm>
            <a:off x="838200" y="365125"/>
            <a:ext cx="10515600" cy="765585"/>
          </a:xfrm>
        </p:spPr>
        <p:txBody>
          <a:bodyPr/>
          <a:lstStyle/>
          <a:p>
            <a:r>
              <a:rPr lang="en-IN"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Introduction</a:t>
            </a:r>
          </a:p>
        </p:txBody>
      </p:sp>
      <p:sp>
        <p:nvSpPr>
          <p:cNvPr id="3" name="Text Placeholder 2">
            <a:extLst>
              <a:ext uri="{FF2B5EF4-FFF2-40B4-BE49-F238E27FC236}">
                <a16:creationId xmlns:a16="http://schemas.microsoft.com/office/drawing/2014/main" id="{E5E00303-384C-6B8E-05D7-F553B9AC97EA}"/>
              </a:ext>
            </a:extLst>
          </p:cNvPr>
          <p:cNvSpPr>
            <a:spLocks noGrp="1"/>
          </p:cNvSpPr>
          <p:nvPr>
            <p:ph type="body" idx="1"/>
          </p:nvPr>
        </p:nvSpPr>
        <p:spPr>
          <a:xfrm>
            <a:off x="838200" y="1130709"/>
            <a:ext cx="11009671" cy="4994787"/>
          </a:xfrm>
        </p:spPr>
        <p:txBody>
          <a:bodyPr>
            <a:normAutofit/>
          </a:bodyPr>
          <a:lstStyle/>
          <a:p>
            <a:pPr marL="114300" indent="0">
              <a:buNone/>
            </a:pPr>
            <a:r>
              <a:rPr lang="en-US" sz="2400" dirty="0">
                <a:latin typeface="Times New Roman" panose="02020603050405020304" pitchFamily="18" charset="0"/>
                <a:cs typeface="Times New Roman" panose="02020603050405020304" pitchFamily="18" charset="0"/>
              </a:rPr>
              <a:t>In today’s data-driven environment, efficient data management is essential for operational success. This project focuses on designing and analyzing a relational database system for a Library Management System using MySQL.</a:t>
            </a:r>
          </a:p>
          <a:p>
            <a:pPr marL="114300" indent="0">
              <a:buNone/>
            </a:pPr>
            <a:r>
              <a:rPr lang="en-US" sz="2400" dirty="0">
                <a:latin typeface="Times New Roman" panose="02020603050405020304" pitchFamily="18" charset="0"/>
                <a:cs typeface="Times New Roman" panose="02020603050405020304" pitchFamily="18" charset="0"/>
              </a:rPr>
              <a:t>The goal of this project is to:</a:t>
            </a:r>
          </a:p>
          <a:p>
            <a:r>
              <a:rPr lang="en-US" sz="2400" dirty="0">
                <a:latin typeface="Times New Roman" panose="02020603050405020304" pitchFamily="18" charset="0"/>
                <a:cs typeface="Times New Roman" panose="02020603050405020304" pitchFamily="18" charset="0"/>
              </a:rPr>
              <a:t>Design a structured and normalized database schema</a:t>
            </a:r>
          </a:p>
          <a:p>
            <a:r>
              <a:rPr lang="en-US" sz="2400" dirty="0">
                <a:latin typeface="Times New Roman" panose="02020603050405020304" pitchFamily="18" charset="0"/>
                <a:cs typeface="Times New Roman" panose="02020603050405020304" pitchFamily="18" charset="0"/>
              </a:rPr>
              <a:t>Establish relationships using primary and foreign keys</a:t>
            </a:r>
          </a:p>
          <a:p>
            <a:r>
              <a:rPr lang="en-US" sz="2400" dirty="0">
                <a:latin typeface="Times New Roman" panose="02020603050405020304" pitchFamily="18" charset="0"/>
                <a:cs typeface="Times New Roman" panose="02020603050405020304" pitchFamily="18" charset="0"/>
              </a:rPr>
              <a:t>Store and manage book, borrower, branch, and loan data</a:t>
            </a:r>
          </a:p>
          <a:p>
            <a:r>
              <a:rPr lang="en-US" sz="2400" dirty="0">
                <a:latin typeface="Times New Roman" panose="02020603050405020304" pitchFamily="18" charset="0"/>
                <a:cs typeface="Times New Roman" panose="02020603050405020304" pitchFamily="18" charset="0"/>
              </a:rPr>
              <a:t>Perform SQL-based analytical queries</a:t>
            </a:r>
          </a:p>
          <a:p>
            <a:r>
              <a:rPr lang="en-US" sz="2400" dirty="0">
                <a:latin typeface="Times New Roman" panose="02020603050405020304" pitchFamily="18" charset="0"/>
                <a:cs typeface="Times New Roman" panose="02020603050405020304" pitchFamily="18" charset="0"/>
              </a:rPr>
              <a:t>Extract meaningful business insights from transactional data</a:t>
            </a:r>
          </a:p>
          <a:p>
            <a:pPr marL="114300" indent="0">
              <a:buNone/>
            </a:pPr>
            <a:r>
              <a:rPr lang="en-US" sz="2400" dirty="0">
                <a:latin typeface="Times New Roman" panose="02020603050405020304" pitchFamily="18" charset="0"/>
                <a:cs typeface="Times New Roman" panose="02020603050405020304" pitchFamily="18" charset="0"/>
              </a:rPr>
              <a:t>Through this system, raw library data is transformed into structured information that supports decision-making, inventory planning, and operational efficiency.</a:t>
            </a:r>
          </a:p>
          <a:p>
            <a:endParaRPr lang="en-IN" dirty="0"/>
          </a:p>
        </p:txBody>
      </p:sp>
    </p:spTree>
    <p:extLst>
      <p:ext uri="{BB962C8B-B14F-4D97-AF65-F5344CB8AC3E}">
        <p14:creationId xmlns:p14="http://schemas.microsoft.com/office/powerpoint/2010/main" val="4273387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7FBFE-46FB-877A-6D2C-6C4579DFEBAB}"/>
              </a:ext>
            </a:extLst>
          </p:cNvPr>
          <p:cNvSpPr>
            <a:spLocks noGrp="1"/>
          </p:cNvSpPr>
          <p:nvPr>
            <p:ph type="title"/>
          </p:nvPr>
        </p:nvSpPr>
        <p:spPr>
          <a:xfrm>
            <a:off x="838200" y="365125"/>
            <a:ext cx="10515600" cy="844243"/>
          </a:xfrm>
        </p:spPr>
        <p:txBody>
          <a:bodyPr>
            <a:normAutofit/>
          </a:bodyPr>
          <a:lstStyle/>
          <a:p>
            <a:r>
              <a:rPr lang="en-IN" sz="40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Objective of the Project</a:t>
            </a:r>
          </a:p>
        </p:txBody>
      </p:sp>
      <p:sp>
        <p:nvSpPr>
          <p:cNvPr id="4" name="Rectangle 1">
            <a:extLst>
              <a:ext uri="{FF2B5EF4-FFF2-40B4-BE49-F238E27FC236}">
                <a16:creationId xmlns:a16="http://schemas.microsoft.com/office/drawing/2014/main" id="{7599B710-4A3B-586D-7213-8163F98D2E3B}"/>
              </a:ext>
            </a:extLst>
          </p:cNvPr>
          <p:cNvSpPr>
            <a:spLocks noGrp="1" noChangeArrowheads="1"/>
          </p:cNvSpPr>
          <p:nvPr>
            <p:ph type="body" idx="1"/>
          </p:nvPr>
        </p:nvSpPr>
        <p:spPr bwMode="auto">
          <a:xfrm>
            <a:off x="838200" y="1219856"/>
            <a:ext cx="10574594"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and implement a relational database for a Library Management System using MySQL.</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establish relationships between books, authors, publishers, borrowers, and branches.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perform analytical queries on library operations.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derive insights from loan, inventory, and borrower data.</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real-world database normalization and foreign key relationships.</a:t>
            </a:r>
          </a:p>
        </p:txBody>
      </p:sp>
    </p:spTree>
    <p:extLst>
      <p:ext uri="{BB962C8B-B14F-4D97-AF65-F5344CB8AC3E}">
        <p14:creationId xmlns:p14="http://schemas.microsoft.com/office/powerpoint/2010/main" val="218611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6057-0789-951B-893B-6EC2BF17BC2B}"/>
              </a:ext>
            </a:extLst>
          </p:cNvPr>
          <p:cNvSpPr>
            <a:spLocks noGrp="1"/>
          </p:cNvSpPr>
          <p:nvPr>
            <p:ph type="title"/>
          </p:nvPr>
        </p:nvSpPr>
        <p:spPr>
          <a:xfrm>
            <a:off x="838200" y="365126"/>
            <a:ext cx="5257800" cy="549274"/>
          </a:xfrm>
        </p:spPr>
        <p:txBody>
          <a:bodyPr>
            <a:normAutofit fontScale="90000"/>
          </a:bodyPr>
          <a:lstStyle/>
          <a:p>
            <a:br>
              <a:rPr lang="en-IN" sz="40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br>
            <a:r>
              <a:rPr lang="en-IN" sz="40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ER Diagram and schema</a:t>
            </a:r>
            <a:br>
              <a:rPr lang="en-IN" dirty="0"/>
            </a:br>
            <a:endParaRPr lang="en-IN" dirty="0"/>
          </a:p>
        </p:txBody>
      </p:sp>
      <p:sp>
        <p:nvSpPr>
          <p:cNvPr id="3" name="Text Placeholder 2">
            <a:extLst>
              <a:ext uri="{FF2B5EF4-FFF2-40B4-BE49-F238E27FC236}">
                <a16:creationId xmlns:a16="http://schemas.microsoft.com/office/drawing/2014/main" id="{449075F5-AF62-675F-F93E-A44B6B21B6C0}"/>
              </a:ext>
            </a:extLst>
          </p:cNvPr>
          <p:cNvSpPr>
            <a:spLocks noGrp="1"/>
          </p:cNvSpPr>
          <p:nvPr>
            <p:ph type="body" idx="1"/>
          </p:nvPr>
        </p:nvSpPr>
        <p:spPr>
          <a:xfrm>
            <a:off x="838200" y="1081548"/>
            <a:ext cx="5257800" cy="5411326"/>
          </a:xfrm>
        </p:spPr>
        <p:txBody>
          <a:bodyPr>
            <a:normAutofit fontScale="70000" lnSpcReduction="20000"/>
          </a:bodyPr>
          <a:lstStyle/>
          <a:p>
            <a:pPr marL="114300" indent="0">
              <a:buNone/>
            </a:pPr>
            <a:r>
              <a:rPr lang="en-US" sz="4400" b="1" dirty="0">
                <a:latin typeface="Times New Roman" panose="02020603050405020304" pitchFamily="18" charset="0"/>
                <a:cs typeface="Times New Roman" panose="02020603050405020304" pitchFamily="18" charset="0"/>
              </a:rPr>
              <a:t>Entities in the System:</a:t>
            </a:r>
          </a:p>
          <a:p>
            <a:r>
              <a:rPr lang="en-US" sz="2900" b="1" dirty="0" err="1">
                <a:latin typeface="Times New Roman" panose="02020603050405020304" pitchFamily="18" charset="0"/>
                <a:cs typeface="Times New Roman" panose="02020603050405020304" pitchFamily="18" charset="0"/>
              </a:rPr>
              <a:t>tbl_publisher</a:t>
            </a:r>
            <a:endParaRPr lang="en-US" sz="2900" dirty="0">
              <a:latin typeface="Times New Roman" panose="02020603050405020304" pitchFamily="18" charset="0"/>
              <a:cs typeface="Times New Roman" panose="02020603050405020304" pitchFamily="18" charset="0"/>
            </a:endParaRPr>
          </a:p>
          <a:p>
            <a:pPr lvl="1"/>
            <a:r>
              <a:rPr lang="en-US" sz="2900" dirty="0">
                <a:latin typeface="Times New Roman" panose="02020603050405020304" pitchFamily="18" charset="0"/>
                <a:cs typeface="Times New Roman" panose="02020603050405020304" pitchFamily="18" charset="0"/>
              </a:rPr>
              <a:t>Stores publisher information</a:t>
            </a:r>
          </a:p>
          <a:p>
            <a:pPr lvl="1"/>
            <a:r>
              <a:rPr lang="en-US" sz="2900" dirty="0">
                <a:latin typeface="Times New Roman" panose="02020603050405020304" pitchFamily="18" charset="0"/>
                <a:cs typeface="Times New Roman" panose="02020603050405020304" pitchFamily="18" charset="0"/>
              </a:rPr>
              <a:t>Primary Key: </a:t>
            </a:r>
            <a:r>
              <a:rPr lang="en-US" sz="2900" dirty="0" err="1">
                <a:latin typeface="Times New Roman" panose="02020603050405020304" pitchFamily="18" charset="0"/>
                <a:cs typeface="Times New Roman" panose="02020603050405020304" pitchFamily="18" charset="0"/>
              </a:rPr>
              <a:t>publisher_PublisherName</a:t>
            </a:r>
            <a:endParaRPr lang="en-US" sz="2900" dirty="0">
              <a:latin typeface="Times New Roman" panose="02020603050405020304" pitchFamily="18" charset="0"/>
              <a:cs typeface="Times New Roman" panose="02020603050405020304" pitchFamily="18" charset="0"/>
            </a:endParaRPr>
          </a:p>
          <a:p>
            <a:r>
              <a:rPr lang="en-US" sz="2900" b="1" dirty="0" err="1">
                <a:latin typeface="Times New Roman" panose="02020603050405020304" pitchFamily="18" charset="0"/>
                <a:cs typeface="Times New Roman" panose="02020603050405020304" pitchFamily="18" charset="0"/>
              </a:rPr>
              <a:t>tbl_book</a:t>
            </a:r>
            <a:endParaRPr lang="en-US" sz="2900" dirty="0">
              <a:latin typeface="Times New Roman" panose="02020603050405020304" pitchFamily="18" charset="0"/>
              <a:cs typeface="Times New Roman" panose="02020603050405020304" pitchFamily="18" charset="0"/>
            </a:endParaRPr>
          </a:p>
          <a:p>
            <a:pPr lvl="1"/>
            <a:r>
              <a:rPr lang="en-US" sz="2900" dirty="0">
                <a:latin typeface="Times New Roman" panose="02020603050405020304" pitchFamily="18" charset="0"/>
                <a:cs typeface="Times New Roman" panose="02020603050405020304" pitchFamily="18" charset="0"/>
              </a:rPr>
              <a:t>Stores book details</a:t>
            </a:r>
          </a:p>
          <a:p>
            <a:pPr lvl="1"/>
            <a:r>
              <a:rPr lang="en-US" sz="2900" dirty="0">
                <a:latin typeface="Times New Roman" panose="02020603050405020304" pitchFamily="18" charset="0"/>
                <a:cs typeface="Times New Roman" panose="02020603050405020304" pitchFamily="18" charset="0"/>
              </a:rPr>
              <a:t>Foreign Key → Publisher</a:t>
            </a:r>
          </a:p>
          <a:p>
            <a:r>
              <a:rPr lang="en-US" sz="2900" b="1" dirty="0" err="1">
                <a:latin typeface="Times New Roman" panose="02020603050405020304" pitchFamily="18" charset="0"/>
                <a:cs typeface="Times New Roman" panose="02020603050405020304" pitchFamily="18" charset="0"/>
              </a:rPr>
              <a:t>tbl_book_authors</a:t>
            </a:r>
            <a:endParaRPr lang="en-US" sz="2900" dirty="0">
              <a:latin typeface="Times New Roman" panose="02020603050405020304" pitchFamily="18" charset="0"/>
              <a:cs typeface="Times New Roman" panose="02020603050405020304" pitchFamily="18" charset="0"/>
            </a:endParaRPr>
          </a:p>
          <a:p>
            <a:pPr lvl="1"/>
            <a:r>
              <a:rPr lang="en-US" sz="2900" dirty="0">
                <a:latin typeface="Times New Roman" panose="02020603050405020304" pitchFamily="18" charset="0"/>
                <a:cs typeface="Times New Roman" panose="02020603050405020304" pitchFamily="18" charset="0"/>
              </a:rPr>
              <a:t>Maps books to authors</a:t>
            </a:r>
          </a:p>
          <a:p>
            <a:pPr lvl="1"/>
            <a:r>
              <a:rPr lang="en-US" sz="2900" dirty="0">
                <a:latin typeface="Times New Roman" panose="02020603050405020304" pitchFamily="18" charset="0"/>
                <a:cs typeface="Times New Roman" panose="02020603050405020304" pitchFamily="18" charset="0"/>
              </a:rPr>
              <a:t>One book can have multiple authors</a:t>
            </a:r>
          </a:p>
          <a:p>
            <a:r>
              <a:rPr lang="en-US" sz="2900" b="1" dirty="0" err="1">
                <a:latin typeface="Times New Roman" panose="02020603050405020304" pitchFamily="18" charset="0"/>
                <a:cs typeface="Times New Roman" panose="02020603050405020304" pitchFamily="18" charset="0"/>
              </a:rPr>
              <a:t>tbl_library_branch</a:t>
            </a:r>
            <a:endParaRPr lang="en-US" sz="2900" dirty="0">
              <a:latin typeface="Times New Roman" panose="02020603050405020304" pitchFamily="18" charset="0"/>
              <a:cs typeface="Times New Roman" panose="02020603050405020304" pitchFamily="18" charset="0"/>
            </a:endParaRPr>
          </a:p>
          <a:p>
            <a:pPr lvl="1"/>
            <a:r>
              <a:rPr lang="en-US" sz="2900" dirty="0">
                <a:latin typeface="Times New Roman" panose="02020603050405020304" pitchFamily="18" charset="0"/>
                <a:cs typeface="Times New Roman" panose="02020603050405020304" pitchFamily="18" charset="0"/>
              </a:rPr>
              <a:t>Stores branch information</a:t>
            </a:r>
          </a:p>
          <a:p>
            <a:r>
              <a:rPr lang="en-US" sz="2900" b="1" dirty="0" err="1">
                <a:latin typeface="Times New Roman" panose="02020603050405020304" pitchFamily="18" charset="0"/>
                <a:cs typeface="Times New Roman" panose="02020603050405020304" pitchFamily="18" charset="0"/>
              </a:rPr>
              <a:t>tbl_book_copies</a:t>
            </a:r>
            <a:endParaRPr lang="en-US" sz="2900" dirty="0">
              <a:latin typeface="Times New Roman" panose="02020603050405020304" pitchFamily="18" charset="0"/>
              <a:cs typeface="Times New Roman" panose="02020603050405020304" pitchFamily="18" charset="0"/>
            </a:endParaRPr>
          </a:p>
          <a:p>
            <a:pPr lvl="1"/>
            <a:r>
              <a:rPr lang="en-US" sz="2900" dirty="0">
                <a:latin typeface="Times New Roman" panose="02020603050405020304" pitchFamily="18" charset="0"/>
                <a:cs typeface="Times New Roman" panose="02020603050405020304" pitchFamily="18" charset="0"/>
              </a:rPr>
              <a:t>Tracks number of copies of each book per branch</a:t>
            </a:r>
          </a:p>
          <a:p>
            <a:pPr lvl="1"/>
            <a:r>
              <a:rPr lang="en-US" sz="2900" dirty="0">
                <a:latin typeface="Times New Roman" panose="02020603050405020304" pitchFamily="18" charset="0"/>
                <a:cs typeface="Times New Roman" panose="02020603050405020304" pitchFamily="18" charset="0"/>
              </a:rPr>
              <a:t>Connects Book ↔ Branch</a:t>
            </a:r>
          </a:p>
          <a:p>
            <a:endParaRPr lang="en-US" dirty="0"/>
          </a:p>
        </p:txBody>
      </p:sp>
      <p:sp>
        <p:nvSpPr>
          <p:cNvPr id="4" name="TextBox 3">
            <a:extLst>
              <a:ext uri="{FF2B5EF4-FFF2-40B4-BE49-F238E27FC236}">
                <a16:creationId xmlns:a16="http://schemas.microsoft.com/office/drawing/2014/main" id="{B7E01900-534F-32B8-0716-C2EAD13A973E}"/>
              </a:ext>
            </a:extLst>
          </p:cNvPr>
          <p:cNvSpPr txBox="1"/>
          <p:nvPr/>
        </p:nvSpPr>
        <p:spPr>
          <a:xfrm>
            <a:off x="6253314" y="1401942"/>
            <a:ext cx="5100486" cy="4462760"/>
          </a:xfrm>
          <a:prstGeom prst="rect">
            <a:avLst/>
          </a:prstGeom>
          <a:noFill/>
        </p:spPr>
        <p:txBody>
          <a:bodyPr wrap="square" rtlCol="0">
            <a:spAutoFit/>
          </a:bodyPr>
          <a:lstStyle/>
          <a:p>
            <a:endParaRPr lang="en-US" b="1" dirty="0"/>
          </a:p>
          <a:p>
            <a:pPr marL="285750" indent="-285750">
              <a:buFont typeface="Arial" panose="020B0604020202020204" pitchFamily="34" charset="0"/>
              <a:buChar char="•"/>
            </a:pPr>
            <a:r>
              <a:rPr lang="en-US" sz="2000" b="1" dirty="0" err="1">
                <a:latin typeface="Times New Roman" panose="02020603050405020304" pitchFamily="18" charset="0"/>
                <a:ea typeface="Calibri" panose="020F0502020204030204" pitchFamily="34" charset="0"/>
                <a:cs typeface="Times New Roman" panose="02020603050405020304" pitchFamily="18" charset="0"/>
              </a:rPr>
              <a:t>tbl_borrower</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Stores borrower details</a:t>
            </a:r>
          </a:p>
          <a:p>
            <a:pPr marL="285750" indent="-285750">
              <a:buFont typeface="Arial" panose="020B0604020202020204" pitchFamily="34" charset="0"/>
              <a:buChar char="•"/>
            </a:pPr>
            <a:r>
              <a:rPr lang="en-US" sz="2000" b="1" dirty="0" err="1">
                <a:latin typeface="Times New Roman" panose="02020603050405020304" pitchFamily="18" charset="0"/>
                <a:ea typeface="Calibri" panose="020F0502020204030204" pitchFamily="34" charset="0"/>
                <a:cs typeface="Times New Roman" panose="02020603050405020304" pitchFamily="18" charset="0"/>
              </a:rPr>
              <a:t>tbl_book_loans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Tracks issued books</a:t>
            </a:r>
          </a:p>
          <a:p>
            <a:pPr marL="742950" lvl="1" indent="-28575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Connects Book ↔ Branch ↔ Borrower</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ea typeface="Calibri" panose="020F0502020204030204" pitchFamily="34" charset="0"/>
                <a:cs typeface="Times New Roman" panose="02020603050405020304" pitchFamily="18" charset="0"/>
              </a:rPr>
              <a:t>Relationships:</a:t>
            </a:r>
          </a:p>
          <a:p>
            <a:pPr marL="342900" indent="-34290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One Publisher → Many Books</a:t>
            </a:r>
          </a:p>
          <a:p>
            <a:pPr marL="342900" indent="-34290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One Book → Many Authors</a:t>
            </a:r>
          </a:p>
          <a:p>
            <a:pPr marL="342900" indent="-34290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One Book → Many Copies</a:t>
            </a:r>
          </a:p>
          <a:p>
            <a:pPr marL="342900" indent="-34290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One Branch → Many Loans</a:t>
            </a:r>
          </a:p>
          <a:p>
            <a:pPr marL="342900" indent="-34290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One Borrower → Many Loans</a:t>
            </a:r>
          </a:p>
          <a:p>
            <a:endParaRPr lang="en-US" b="1" dirty="0"/>
          </a:p>
        </p:txBody>
      </p:sp>
    </p:spTree>
    <p:extLst>
      <p:ext uri="{BB962C8B-B14F-4D97-AF65-F5344CB8AC3E}">
        <p14:creationId xmlns:p14="http://schemas.microsoft.com/office/powerpoint/2010/main" val="3481569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4B5C-5E0A-2846-F7BF-E172F76A7A93}"/>
              </a:ext>
            </a:extLst>
          </p:cNvPr>
          <p:cNvSpPr>
            <a:spLocks noGrp="1"/>
          </p:cNvSpPr>
          <p:nvPr>
            <p:ph type="title"/>
          </p:nvPr>
        </p:nvSpPr>
        <p:spPr>
          <a:xfrm>
            <a:off x="838200" y="365125"/>
            <a:ext cx="6309852" cy="775417"/>
          </a:xfrm>
        </p:spPr>
        <p:txBody>
          <a:bodyPr>
            <a:normAutofit/>
          </a:bodyPr>
          <a:lstStyle/>
          <a:p>
            <a:r>
              <a:rPr lang="en-IN" sz="36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ER Diagram and schema</a:t>
            </a:r>
            <a:endParaRPr lang="en-IN" sz="3600" dirty="0"/>
          </a:p>
        </p:txBody>
      </p:sp>
      <p:pic>
        <p:nvPicPr>
          <p:cNvPr id="7" name="Picture 6">
            <a:extLst>
              <a:ext uri="{FF2B5EF4-FFF2-40B4-BE49-F238E27FC236}">
                <a16:creationId xmlns:a16="http://schemas.microsoft.com/office/drawing/2014/main" id="{624747BF-9983-1A9A-E2CD-1632866C45DC}"/>
              </a:ext>
            </a:extLst>
          </p:cNvPr>
          <p:cNvPicPr>
            <a:picLocks noChangeAspect="1"/>
          </p:cNvPicPr>
          <p:nvPr/>
        </p:nvPicPr>
        <p:blipFill>
          <a:blip r:embed="rId2"/>
          <a:stretch>
            <a:fillRect/>
          </a:stretch>
        </p:blipFill>
        <p:spPr>
          <a:xfrm>
            <a:off x="838200" y="1059254"/>
            <a:ext cx="8376920" cy="5554892"/>
          </a:xfrm>
          <a:prstGeom prst="rect">
            <a:avLst/>
          </a:prstGeom>
        </p:spPr>
      </p:pic>
    </p:spTree>
    <p:extLst>
      <p:ext uri="{BB962C8B-B14F-4D97-AF65-F5344CB8AC3E}">
        <p14:creationId xmlns:p14="http://schemas.microsoft.com/office/powerpoint/2010/main" val="806519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CD56-45AD-AFBF-8112-762CD5FB3F0A}"/>
              </a:ext>
            </a:extLst>
          </p:cNvPr>
          <p:cNvSpPr>
            <a:spLocks noGrp="1"/>
          </p:cNvSpPr>
          <p:nvPr>
            <p:ph type="title"/>
          </p:nvPr>
        </p:nvSpPr>
        <p:spPr>
          <a:xfrm>
            <a:off x="838200" y="431799"/>
            <a:ext cx="8061960" cy="655321"/>
          </a:xfrm>
        </p:spPr>
        <p:txBody>
          <a:bodyPr>
            <a:normAutofit fontScale="90000"/>
          </a:bodyPr>
          <a:lstStyle/>
          <a:p>
            <a:br>
              <a:rPr lang="en-US"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br>
            <a:r>
              <a:rPr lang="en-US"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Key analysis questions (use cases)</a:t>
            </a:r>
            <a:br>
              <a:rPr lang="en-US" dirty="0"/>
            </a:br>
            <a:endParaRPr lang="en-IN" dirty="0"/>
          </a:p>
        </p:txBody>
      </p:sp>
      <p:sp>
        <p:nvSpPr>
          <p:cNvPr id="5" name="Text Placeholder 2">
            <a:extLst>
              <a:ext uri="{FF2B5EF4-FFF2-40B4-BE49-F238E27FC236}">
                <a16:creationId xmlns:a16="http://schemas.microsoft.com/office/drawing/2014/main" id="{DA5ED3F9-663C-2120-2C37-E5E26112BB21}"/>
              </a:ext>
            </a:extLst>
          </p:cNvPr>
          <p:cNvSpPr>
            <a:spLocks noGrp="1"/>
          </p:cNvSpPr>
          <p:nvPr>
            <p:ph type="body" idx="1"/>
          </p:nvPr>
        </p:nvSpPr>
        <p:spPr>
          <a:xfrm>
            <a:off x="838200" y="1253330"/>
            <a:ext cx="10723880" cy="4781709"/>
          </a:xfrm>
        </p:spPr>
        <p:txBody>
          <a:bodyPr/>
          <a:lstStyle/>
          <a:p>
            <a:pPr eaLnBrk="0" fontAlgn="base" hangingPunct="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many copies of a specific book are available in a specific branch?</a:t>
            </a:r>
            <a:endParaRPr lang="en-IN" dirty="0">
              <a:latin typeface="Times New Roman" panose="02020603050405020304" pitchFamily="18" charset="0"/>
              <a:cs typeface="Times New Roman" panose="02020603050405020304" pitchFamily="18" charset="0"/>
            </a:endParaRPr>
          </a:p>
          <a:p>
            <a:pPr eaLnBrk="0" fontAlgn="base" hangingPunct="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many copies are available across all branches?</a:t>
            </a:r>
            <a:endParaRPr lang="en-IN" dirty="0">
              <a:latin typeface="Times New Roman" panose="02020603050405020304" pitchFamily="18" charset="0"/>
              <a:cs typeface="Times New Roman" panose="02020603050405020304" pitchFamily="18" charset="0"/>
            </a:endParaRPr>
          </a:p>
          <a:p>
            <a:pPr eaLnBrk="0" fontAlgn="base" hangingPunct="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Which borrowers currently have no books issued?</a:t>
            </a:r>
            <a:endParaRPr lang="en-IN" dirty="0">
              <a:latin typeface="Times New Roman" panose="02020603050405020304" pitchFamily="18" charset="0"/>
              <a:cs typeface="Times New Roman" panose="02020603050405020304" pitchFamily="18" charset="0"/>
            </a:endParaRPr>
          </a:p>
          <a:p>
            <a:pPr eaLnBrk="0" fontAlgn="base" hangingPunct="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Which books are due on a specific date at a specific branch?</a:t>
            </a:r>
            <a:endParaRPr lang="en-IN" dirty="0">
              <a:latin typeface="Times New Roman" panose="02020603050405020304" pitchFamily="18" charset="0"/>
              <a:cs typeface="Times New Roman" panose="02020603050405020304" pitchFamily="18" charset="0"/>
            </a:endParaRPr>
          </a:p>
          <a:p>
            <a:pPr eaLnBrk="0" fontAlgn="base" hangingPunct="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many books are loaned from each branch?</a:t>
            </a:r>
            <a:endParaRPr lang="en-IN" dirty="0">
              <a:latin typeface="Times New Roman" panose="02020603050405020304" pitchFamily="18" charset="0"/>
              <a:cs typeface="Times New Roman" panose="02020603050405020304" pitchFamily="18" charset="0"/>
            </a:endParaRPr>
          </a:p>
          <a:p>
            <a:pPr eaLnBrk="0" fontAlgn="base" hangingPunct="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Which borrowers have more than 5 books issued?</a:t>
            </a:r>
            <a:endParaRPr lang="en-IN" dirty="0">
              <a:latin typeface="Times New Roman" panose="02020603050405020304" pitchFamily="18" charset="0"/>
              <a:cs typeface="Times New Roman" panose="02020603050405020304" pitchFamily="18" charset="0"/>
            </a:endParaRPr>
          </a:p>
          <a:p>
            <a:pPr eaLnBrk="0" fontAlgn="base" hangingPunct="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 many copies of Stephen King books are available in the Central branch?</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09637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02D45-C781-2607-4D18-32F95BC69C3A}"/>
              </a:ext>
            </a:extLst>
          </p:cNvPr>
          <p:cNvSpPr>
            <a:spLocks noGrp="1"/>
          </p:cNvSpPr>
          <p:nvPr>
            <p:ph type="title"/>
          </p:nvPr>
        </p:nvSpPr>
        <p:spPr>
          <a:xfrm>
            <a:off x="838200" y="132947"/>
            <a:ext cx="10650436" cy="2049814"/>
          </a:xfrm>
        </p:spPr>
        <p:txBody>
          <a:bodyPr>
            <a:normAutofit/>
          </a:bodyPr>
          <a:lstStyle/>
          <a:p>
            <a:r>
              <a:rPr lang="en-US" sz="40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SQL query results</a:t>
            </a:r>
            <a:br>
              <a:rPr lang="en-US" sz="2400" dirty="0"/>
            </a:br>
            <a:br>
              <a:rPr lang="en-US" sz="2400" dirty="0"/>
            </a:br>
            <a:r>
              <a:rPr lang="en-US" sz="2400" b="1" dirty="0"/>
              <a:t>1) Retrieved the number of copies of “The Lost Tribe” available in the </a:t>
            </a:r>
            <a:r>
              <a:rPr lang="en-US" sz="2400" b="1" i="1" dirty="0"/>
              <a:t>Sharpstown</a:t>
            </a:r>
            <a:r>
              <a:rPr lang="en-US" sz="2400" b="1" dirty="0"/>
              <a:t> branch.</a:t>
            </a:r>
            <a:endParaRPr lang="en-IN" sz="2400" b="1" dirty="0"/>
          </a:p>
        </p:txBody>
      </p:sp>
      <p:pic>
        <p:nvPicPr>
          <p:cNvPr id="7" name="Picture 6">
            <a:extLst>
              <a:ext uri="{FF2B5EF4-FFF2-40B4-BE49-F238E27FC236}">
                <a16:creationId xmlns:a16="http://schemas.microsoft.com/office/drawing/2014/main" id="{DF1D3CCD-213C-78D6-8A45-831B2039C9B3}"/>
              </a:ext>
            </a:extLst>
          </p:cNvPr>
          <p:cNvPicPr>
            <a:picLocks noChangeAspect="1"/>
          </p:cNvPicPr>
          <p:nvPr/>
        </p:nvPicPr>
        <p:blipFill>
          <a:blip r:embed="rId2"/>
          <a:stretch>
            <a:fillRect/>
          </a:stretch>
        </p:blipFill>
        <p:spPr>
          <a:xfrm>
            <a:off x="838200" y="2632085"/>
            <a:ext cx="10416678" cy="1759439"/>
          </a:xfrm>
          <a:prstGeom prst="rect">
            <a:avLst/>
          </a:prstGeom>
        </p:spPr>
      </p:pic>
      <p:sp>
        <p:nvSpPr>
          <p:cNvPr id="8" name="TextBox 7">
            <a:extLst>
              <a:ext uri="{FF2B5EF4-FFF2-40B4-BE49-F238E27FC236}">
                <a16:creationId xmlns:a16="http://schemas.microsoft.com/office/drawing/2014/main" id="{5CE32A37-1603-ABAD-9905-73B9F78BDB12}"/>
              </a:ext>
            </a:extLst>
          </p:cNvPr>
          <p:cNvSpPr txBox="1"/>
          <p:nvPr/>
        </p:nvSpPr>
        <p:spPr>
          <a:xfrm>
            <a:off x="838200" y="2087616"/>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p>
        </p:txBody>
      </p:sp>
      <p:sp>
        <p:nvSpPr>
          <p:cNvPr id="9" name="TextBox 8">
            <a:extLst>
              <a:ext uri="{FF2B5EF4-FFF2-40B4-BE49-F238E27FC236}">
                <a16:creationId xmlns:a16="http://schemas.microsoft.com/office/drawing/2014/main" id="{C07A8AB3-DDAB-9567-CC1A-97396C448D12}"/>
              </a:ext>
            </a:extLst>
          </p:cNvPr>
          <p:cNvSpPr txBox="1"/>
          <p:nvPr/>
        </p:nvSpPr>
        <p:spPr>
          <a:xfrm>
            <a:off x="831788" y="4391525"/>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p>
        </p:txBody>
      </p:sp>
      <p:pic>
        <p:nvPicPr>
          <p:cNvPr id="11" name="Picture 10">
            <a:extLst>
              <a:ext uri="{FF2B5EF4-FFF2-40B4-BE49-F238E27FC236}">
                <a16:creationId xmlns:a16="http://schemas.microsoft.com/office/drawing/2014/main" id="{3E59C8F9-75F6-7737-CE33-B2C756D46389}"/>
              </a:ext>
            </a:extLst>
          </p:cNvPr>
          <p:cNvPicPr>
            <a:picLocks noChangeAspect="1"/>
          </p:cNvPicPr>
          <p:nvPr/>
        </p:nvPicPr>
        <p:blipFill>
          <a:blip r:embed="rId3"/>
          <a:stretch>
            <a:fillRect/>
          </a:stretch>
        </p:blipFill>
        <p:spPr>
          <a:xfrm>
            <a:off x="838199" y="5023444"/>
            <a:ext cx="4686421" cy="798236"/>
          </a:xfrm>
          <a:prstGeom prst="rect">
            <a:avLst/>
          </a:prstGeom>
        </p:spPr>
      </p:pic>
    </p:spTree>
    <p:extLst>
      <p:ext uri="{BB962C8B-B14F-4D97-AF65-F5344CB8AC3E}">
        <p14:creationId xmlns:p14="http://schemas.microsoft.com/office/powerpoint/2010/main" val="1401336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EA180-C5EF-AB24-C54D-8FC66CFC60EC}"/>
              </a:ext>
            </a:extLst>
          </p:cNvPr>
          <p:cNvSpPr>
            <a:spLocks noGrp="1"/>
          </p:cNvSpPr>
          <p:nvPr>
            <p:ph type="title"/>
          </p:nvPr>
        </p:nvSpPr>
        <p:spPr>
          <a:xfrm>
            <a:off x="944880" y="603724"/>
            <a:ext cx="10795000" cy="670423"/>
          </a:xfrm>
        </p:spPr>
        <p:txBody>
          <a:bodyPr>
            <a:normAutofit/>
          </a:bodyPr>
          <a:lstStyle/>
          <a:p>
            <a:r>
              <a:rPr lang="en-IN" sz="2400" b="1" dirty="0"/>
              <a:t>2) Calculated “The Lost Tribe” book copies owned by each library branch.</a:t>
            </a:r>
          </a:p>
        </p:txBody>
      </p:sp>
      <p:sp>
        <p:nvSpPr>
          <p:cNvPr id="4" name="TextBox 3">
            <a:extLst>
              <a:ext uri="{FF2B5EF4-FFF2-40B4-BE49-F238E27FC236}">
                <a16:creationId xmlns:a16="http://schemas.microsoft.com/office/drawing/2014/main" id="{5893615A-167E-BF1C-C709-D4ACC88AA1D2}"/>
              </a:ext>
            </a:extLst>
          </p:cNvPr>
          <p:cNvSpPr txBox="1"/>
          <p:nvPr/>
        </p:nvSpPr>
        <p:spPr>
          <a:xfrm>
            <a:off x="944880" y="133096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p>
        </p:txBody>
      </p:sp>
      <p:sp>
        <p:nvSpPr>
          <p:cNvPr id="5" name="TextBox 4">
            <a:extLst>
              <a:ext uri="{FF2B5EF4-FFF2-40B4-BE49-F238E27FC236}">
                <a16:creationId xmlns:a16="http://schemas.microsoft.com/office/drawing/2014/main" id="{AB7E0B6F-B452-966B-CA85-91B510763585}"/>
              </a:ext>
            </a:extLst>
          </p:cNvPr>
          <p:cNvSpPr txBox="1"/>
          <p:nvPr/>
        </p:nvSpPr>
        <p:spPr>
          <a:xfrm>
            <a:off x="1016000" y="4162842"/>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p>
        </p:txBody>
      </p:sp>
      <p:pic>
        <p:nvPicPr>
          <p:cNvPr id="7" name="Picture 6">
            <a:extLst>
              <a:ext uri="{FF2B5EF4-FFF2-40B4-BE49-F238E27FC236}">
                <a16:creationId xmlns:a16="http://schemas.microsoft.com/office/drawing/2014/main" id="{37F181C8-33F1-66AE-784A-A5811675838B}"/>
              </a:ext>
            </a:extLst>
          </p:cNvPr>
          <p:cNvPicPr>
            <a:picLocks noChangeAspect="1"/>
          </p:cNvPicPr>
          <p:nvPr/>
        </p:nvPicPr>
        <p:blipFill>
          <a:blip r:embed="rId2"/>
          <a:stretch>
            <a:fillRect/>
          </a:stretch>
        </p:blipFill>
        <p:spPr>
          <a:xfrm>
            <a:off x="944880" y="2030730"/>
            <a:ext cx="8956003" cy="1880870"/>
          </a:xfrm>
          <a:prstGeom prst="rect">
            <a:avLst/>
          </a:prstGeom>
        </p:spPr>
      </p:pic>
      <p:pic>
        <p:nvPicPr>
          <p:cNvPr id="9" name="Picture 8">
            <a:extLst>
              <a:ext uri="{FF2B5EF4-FFF2-40B4-BE49-F238E27FC236}">
                <a16:creationId xmlns:a16="http://schemas.microsoft.com/office/drawing/2014/main" id="{AC6ECDD2-0322-08EF-FCEA-ACB957FE1B0D}"/>
              </a:ext>
            </a:extLst>
          </p:cNvPr>
          <p:cNvPicPr>
            <a:picLocks noChangeAspect="1"/>
          </p:cNvPicPr>
          <p:nvPr/>
        </p:nvPicPr>
        <p:blipFill>
          <a:blip r:embed="rId3"/>
          <a:stretch>
            <a:fillRect/>
          </a:stretch>
        </p:blipFill>
        <p:spPr>
          <a:xfrm>
            <a:off x="944880" y="4773930"/>
            <a:ext cx="5151120" cy="1480346"/>
          </a:xfrm>
          <a:prstGeom prst="rect">
            <a:avLst/>
          </a:prstGeom>
        </p:spPr>
      </p:pic>
    </p:spTree>
    <p:extLst>
      <p:ext uri="{BB962C8B-B14F-4D97-AF65-F5344CB8AC3E}">
        <p14:creationId xmlns:p14="http://schemas.microsoft.com/office/powerpoint/2010/main" val="663526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6B59E-AE58-A252-B18C-55C290C0C3EC}"/>
              </a:ext>
            </a:extLst>
          </p:cNvPr>
          <p:cNvSpPr>
            <a:spLocks noGrp="1"/>
          </p:cNvSpPr>
          <p:nvPr>
            <p:ph type="title"/>
          </p:nvPr>
        </p:nvSpPr>
        <p:spPr>
          <a:xfrm>
            <a:off x="838200" y="541676"/>
            <a:ext cx="10734040" cy="589915"/>
          </a:xfrm>
        </p:spPr>
        <p:txBody>
          <a:bodyPr>
            <a:normAutofit fontScale="90000"/>
          </a:bodyPr>
          <a:lstStyle/>
          <a:p>
            <a:r>
              <a:rPr lang="en-IN" sz="2400" b="1" dirty="0"/>
              <a:t>3)</a:t>
            </a:r>
            <a:r>
              <a:rPr lang="en-US" b="1" dirty="0"/>
              <a:t> </a:t>
            </a:r>
            <a:r>
              <a:rPr lang="en-US" sz="2700" b="1" dirty="0"/>
              <a:t>Identified borrowers who currently have no books checked out using LEFT JOIN.</a:t>
            </a:r>
            <a:endParaRPr lang="en-IN" sz="2700" b="1" dirty="0"/>
          </a:p>
        </p:txBody>
      </p:sp>
      <p:sp>
        <p:nvSpPr>
          <p:cNvPr id="4" name="TextBox 3">
            <a:extLst>
              <a:ext uri="{FF2B5EF4-FFF2-40B4-BE49-F238E27FC236}">
                <a16:creationId xmlns:a16="http://schemas.microsoft.com/office/drawing/2014/main" id="{EEC6C998-126D-0BCF-05AB-FCDAE2EE557E}"/>
              </a:ext>
            </a:extLst>
          </p:cNvPr>
          <p:cNvSpPr txBox="1"/>
          <p:nvPr/>
        </p:nvSpPr>
        <p:spPr>
          <a:xfrm>
            <a:off x="838200" y="125984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a:t>
            </a:r>
            <a:r>
              <a:rPr lang="en-IN" sz="2400" dirty="0">
                <a:latin typeface="Calibri" panose="020F0502020204030204" pitchFamily="34" charset="0"/>
                <a:ea typeface="Calibri" panose="020F0502020204030204" pitchFamily="34" charset="0"/>
                <a:cs typeface="Calibri" panose="020F0502020204030204" pitchFamily="34" charset="0"/>
              </a:rPr>
              <a:t> </a:t>
            </a:r>
          </a:p>
        </p:txBody>
      </p:sp>
      <p:pic>
        <p:nvPicPr>
          <p:cNvPr id="6" name="Picture 5">
            <a:extLst>
              <a:ext uri="{FF2B5EF4-FFF2-40B4-BE49-F238E27FC236}">
                <a16:creationId xmlns:a16="http://schemas.microsoft.com/office/drawing/2014/main" id="{6CA5BD3F-D97C-7541-979C-C1EF375FE174}"/>
              </a:ext>
            </a:extLst>
          </p:cNvPr>
          <p:cNvPicPr>
            <a:picLocks noChangeAspect="1"/>
          </p:cNvPicPr>
          <p:nvPr/>
        </p:nvPicPr>
        <p:blipFill>
          <a:blip r:embed="rId2"/>
          <a:stretch>
            <a:fillRect/>
          </a:stretch>
        </p:blipFill>
        <p:spPr>
          <a:xfrm>
            <a:off x="838199" y="1849754"/>
            <a:ext cx="8149269" cy="1675765"/>
          </a:xfrm>
          <a:prstGeom prst="rect">
            <a:avLst/>
          </a:prstGeom>
        </p:spPr>
      </p:pic>
      <p:sp>
        <p:nvSpPr>
          <p:cNvPr id="7" name="TextBox 6">
            <a:extLst>
              <a:ext uri="{FF2B5EF4-FFF2-40B4-BE49-F238E27FC236}">
                <a16:creationId xmlns:a16="http://schemas.microsoft.com/office/drawing/2014/main" id="{7683EDA1-16E9-61C9-D313-0C627D8C4597}"/>
              </a:ext>
            </a:extLst>
          </p:cNvPr>
          <p:cNvSpPr txBox="1"/>
          <p:nvPr/>
        </p:nvSpPr>
        <p:spPr>
          <a:xfrm>
            <a:off x="838199" y="3884600"/>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p>
        </p:txBody>
      </p:sp>
      <p:pic>
        <p:nvPicPr>
          <p:cNvPr id="9" name="Picture 8">
            <a:extLst>
              <a:ext uri="{FF2B5EF4-FFF2-40B4-BE49-F238E27FC236}">
                <a16:creationId xmlns:a16="http://schemas.microsoft.com/office/drawing/2014/main" id="{AED31F2A-033B-610D-4D55-469D79497283}"/>
              </a:ext>
            </a:extLst>
          </p:cNvPr>
          <p:cNvPicPr>
            <a:picLocks noChangeAspect="1"/>
          </p:cNvPicPr>
          <p:nvPr/>
        </p:nvPicPr>
        <p:blipFill>
          <a:blip r:embed="rId3"/>
          <a:stretch>
            <a:fillRect/>
          </a:stretch>
        </p:blipFill>
        <p:spPr>
          <a:xfrm>
            <a:off x="838199" y="4512922"/>
            <a:ext cx="4434841" cy="830652"/>
          </a:xfrm>
          <a:prstGeom prst="rect">
            <a:avLst/>
          </a:prstGeom>
        </p:spPr>
      </p:pic>
    </p:spTree>
    <p:extLst>
      <p:ext uri="{BB962C8B-B14F-4D97-AF65-F5344CB8AC3E}">
        <p14:creationId xmlns:p14="http://schemas.microsoft.com/office/powerpoint/2010/main" val="809636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C48CD-E3AB-C875-9872-878C328CCB5A}"/>
              </a:ext>
            </a:extLst>
          </p:cNvPr>
          <p:cNvSpPr>
            <a:spLocks noGrp="1"/>
          </p:cNvSpPr>
          <p:nvPr>
            <p:ph type="title"/>
          </p:nvPr>
        </p:nvSpPr>
        <p:spPr>
          <a:xfrm>
            <a:off x="838200" y="659765"/>
            <a:ext cx="10515600" cy="681355"/>
          </a:xfrm>
        </p:spPr>
        <p:txBody>
          <a:bodyPr>
            <a:normAutofit/>
          </a:bodyPr>
          <a:lstStyle/>
          <a:p>
            <a:r>
              <a:rPr lang="en-IN" sz="2400" b="1" dirty="0"/>
              <a:t>4) </a:t>
            </a:r>
            <a:r>
              <a:rPr lang="en-US" sz="2400" b="1" dirty="0"/>
              <a:t>Retrieved books due on a specific date from a specific branch.</a:t>
            </a:r>
            <a:endParaRPr lang="en-IN" sz="2400" b="1" dirty="0"/>
          </a:p>
        </p:txBody>
      </p:sp>
      <p:sp>
        <p:nvSpPr>
          <p:cNvPr id="4" name="TextBox 3">
            <a:extLst>
              <a:ext uri="{FF2B5EF4-FFF2-40B4-BE49-F238E27FC236}">
                <a16:creationId xmlns:a16="http://schemas.microsoft.com/office/drawing/2014/main" id="{4FF50EBB-5D22-655B-D8CA-4073321AF006}"/>
              </a:ext>
            </a:extLst>
          </p:cNvPr>
          <p:cNvSpPr txBox="1"/>
          <p:nvPr/>
        </p:nvSpPr>
        <p:spPr>
          <a:xfrm>
            <a:off x="838200" y="134112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p>
        </p:txBody>
      </p:sp>
      <p:pic>
        <p:nvPicPr>
          <p:cNvPr id="8" name="Picture 7">
            <a:extLst>
              <a:ext uri="{FF2B5EF4-FFF2-40B4-BE49-F238E27FC236}">
                <a16:creationId xmlns:a16="http://schemas.microsoft.com/office/drawing/2014/main" id="{70BE89D8-4EB5-BF2B-D0E4-0672716F52CA}"/>
              </a:ext>
            </a:extLst>
          </p:cNvPr>
          <p:cNvPicPr>
            <a:picLocks noChangeAspect="1"/>
          </p:cNvPicPr>
          <p:nvPr/>
        </p:nvPicPr>
        <p:blipFill>
          <a:blip r:embed="rId2"/>
          <a:stretch>
            <a:fillRect/>
          </a:stretch>
        </p:blipFill>
        <p:spPr>
          <a:xfrm>
            <a:off x="916054" y="1802785"/>
            <a:ext cx="8145012" cy="2591162"/>
          </a:xfrm>
          <a:prstGeom prst="rect">
            <a:avLst/>
          </a:prstGeom>
        </p:spPr>
      </p:pic>
      <p:sp>
        <p:nvSpPr>
          <p:cNvPr id="9" name="TextBox 8">
            <a:extLst>
              <a:ext uri="{FF2B5EF4-FFF2-40B4-BE49-F238E27FC236}">
                <a16:creationId xmlns:a16="http://schemas.microsoft.com/office/drawing/2014/main" id="{C469894C-22C2-B7CA-E0EE-579DE0198894}"/>
              </a:ext>
            </a:extLst>
          </p:cNvPr>
          <p:cNvSpPr txBox="1"/>
          <p:nvPr/>
        </p:nvSpPr>
        <p:spPr>
          <a:xfrm>
            <a:off x="916054" y="4514520"/>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p>
        </p:txBody>
      </p:sp>
      <p:pic>
        <p:nvPicPr>
          <p:cNvPr id="11" name="Picture 10">
            <a:extLst>
              <a:ext uri="{FF2B5EF4-FFF2-40B4-BE49-F238E27FC236}">
                <a16:creationId xmlns:a16="http://schemas.microsoft.com/office/drawing/2014/main" id="{A63AA246-4A5C-0F20-42F2-6496D6073201}"/>
              </a:ext>
            </a:extLst>
          </p:cNvPr>
          <p:cNvPicPr>
            <a:picLocks noChangeAspect="1"/>
          </p:cNvPicPr>
          <p:nvPr/>
        </p:nvPicPr>
        <p:blipFill>
          <a:blip r:embed="rId3"/>
          <a:stretch>
            <a:fillRect/>
          </a:stretch>
        </p:blipFill>
        <p:spPr>
          <a:xfrm>
            <a:off x="916054" y="4976185"/>
            <a:ext cx="7431913" cy="1597335"/>
          </a:xfrm>
          <a:prstGeom prst="rect">
            <a:avLst/>
          </a:prstGeom>
        </p:spPr>
      </p:pic>
    </p:spTree>
    <p:extLst>
      <p:ext uri="{BB962C8B-B14F-4D97-AF65-F5344CB8AC3E}">
        <p14:creationId xmlns:p14="http://schemas.microsoft.com/office/powerpoint/2010/main" val="1424064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F87D2-2C2A-83E5-D9DE-C200587CDC34}"/>
              </a:ext>
            </a:extLst>
          </p:cNvPr>
          <p:cNvSpPr>
            <a:spLocks noGrp="1"/>
          </p:cNvSpPr>
          <p:nvPr>
            <p:ph type="title"/>
          </p:nvPr>
        </p:nvSpPr>
        <p:spPr>
          <a:xfrm>
            <a:off x="831788" y="688797"/>
            <a:ext cx="10515600" cy="620395"/>
          </a:xfrm>
        </p:spPr>
        <p:txBody>
          <a:bodyPr>
            <a:normAutofit/>
          </a:bodyPr>
          <a:lstStyle/>
          <a:p>
            <a:r>
              <a:rPr lang="en-IN" sz="2400" b="1" dirty="0"/>
              <a:t>5) </a:t>
            </a:r>
            <a:r>
              <a:rPr lang="en-US" sz="2400" b="1" dirty="0"/>
              <a:t>Calculated total books loaned from each branch using aggregation functions</a:t>
            </a:r>
            <a:r>
              <a:rPr lang="en-US" sz="2400" dirty="0"/>
              <a:t>.</a:t>
            </a:r>
            <a:r>
              <a:rPr lang="en-IN" sz="2400" b="1" dirty="0"/>
              <a:t> </a:t>
            </a:r>
          </a:p>
        </p:txBody>
      </p:sp>
      <p:sp>
        <p:nvSpPr>
          <p:cNvPr id="4" name="TextBox 3">
            <a:extLst>
              <a:ext uri="{FF2B5EF4-FFF2-40B4-BE49-F238E27FC236}">
                <a16:creationId xmlns:a16="http://schemas.microsoft.com/office/drawing/2014/main" id="{A1706AD7-2589-7260-6B15-9481B738FA25}"/>
              </a:ext>
            </a:extLst>
          </p:cNvPr>
          <p:cNvSpPr txBox="1"/>
          <p:nvPr/>
        </p:nvSpPr>
        <p:spPr>
          <a:xfrm>
            <a:off x="838200" y="143256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p>
        </p:txBody>
      </p:sp>
      <p:pic>
        <p:nvPicPr>
          <p:cNvPr id="6" name="Picture 5">
            <a:extLst>
              <a:ext uri="{FF2B5EF4-FFF2-40B4-BE49-F238E27FC236}">
                <a16:creationId xmlns:a16="http://schemas.microsoft.com/office/drawing/2014/main" id="{A6B6DD81-93A4-8D58-57C6-CA3294B2C7A9}"/>
              </a:ext>
            </a:extLst>
          </p:cNvPr>
          <p:cNvPicPr>
            <a:picLocks noChangeAspect="1"/>
          </p:cNvPicPr>
          <p:nvPr/>
        </p:nvPicPr>
        <p:blipFill>
          <a:blip r:embed="rId2"/>
          <a:stretch>
            <a:fillRect/>
          </a:stretch>
        </p:blipFill>
        <p:spPr>
          <a:xfrm>
            <a:off x="838200" y="2017593"/>
            <a:ext cx="9640645" cy="1705213"/>
          </a:xfrm>
          <a:prstGeom prst="rect">
            <a:avLst/>
          </a:prstGeom>
        </p:spPr>
      </p:pic>
      <p:pic>
        <p:nvPicPr>
          <p:cNvPr id="8" name="Picture 7">
            <a:extLst>
              <a:ext uri="{FF2B5EF4-FFF2-40B4-BE49-F238E27FC236}">
                <a16:creationId xmlns:a16="http://schemas.microsoft.com/office/drawing/2014/main" id="{36B9F7E0-4526-F8E7-A1C0-53C4276D2BA2}"/>
              </a:ext>
            </a:extLst>
          </p:cNvPr>
          <p:cNvPicPr>
            <a:picLocks noChangeAspect="1"/>
          </p:cNvPicPr>
          <p:nvPr/>
        </p:nvPicPr>
        <p:blipFill>
          <a:blip r:embed="rId3"/>
          <a:stretch>
            <a:fillRect/>
          </a:stretch>
        </p:blipFill>
        <p:spPr>
          <a:xfrm>
            <a:off x="837602" y="4570632"/>
            <a:ext cx="3086531" cy="1247949"/>
          </a:xfrm>
          <a:prstGeom prst="rect">
            <a:avLst/>
          </a:prstGeom>
        </p:spPr>
      </p:pic>
      <p:sp>
        <p:nvSpPr>
          <p:cNvPr id="9" name="TextBox 8">
            <a:extLst>
              <a:ext uri="{FF2B5EF4-FFF2-40B4-BE49-F238E27FC236}">
                <a16:creationId xmlns:a16="http://schemas.microsoft.com/office/drawing/2014/main" id="{1D1C0F3F-B976-A832-6624-849FDD1CE9A0}"/>
              </a:ext>
            </a:extLst>
          </p:cNvPr>
          <p:cNvSpPr txBox="1"/>
          <p:nvPr/>
        </p:nvSpPr>
        <p:spPr>
          <a:xfrm>
            <a:off x="831788" y="4059534"/>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p>
        </p:txBody>
      </p:sp>
    </p:spTree>
    <p:extLst>
      <p:ext uri="{BB962C8B-B14F-4D97-AF65-F5344CB8AC3E}">
        <p14:creationId xmlns:p14="http://schemas.microsoft.com/office/powerpoint/2010/main" val="2589086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A45F8-DA81-1781-8B5D-AC6DF80315EC}"/>
              </a:ext>
            </a:extLst>
          </p:cNvPr>
          <p:cNvSpPr>
            <a:spLocks noGrp="1"/>
          </p:cNvSpPr>
          <p:nvPr>
            <p:ph type="title"/>
          </p:nvPr>
        </p:nvSpPr>
        <p:spPr>
          <a:xfrm>
            <a:off x="838200" y="639445"/>
            <a:ext cx="10515600" cy="610235"/>
          </a:xfrm>
        </p:spPr>
        <p:txBody>
          <a:bodyPr>
            <a:normAutofit/>
          </a:bodyPr>
          <a:lstStyle/>
          <a:p>
            <a:r>
              <a:rPr lang="en-IN" sz="2400" b="1" dirty="0"/>
              <a:t>6) Retrieved the details of all borrowers who checked out more than 5 books</a:t>
            </a:r>
          </a:p>
        </p:txBody>
      </p:sp>
      <p:sp>
        <p:nvSpPr>
          <p:cNvPr id="4" name="TextBox 3">
            <a:extLst>
              <a:ext uri="{FF2B5EF4-FFF2-40B4-BE49-F238E27FC236}">
                <a16:creationId xmlns:a16="http://schemas.microsoft.com/office/drawing/2014/main" id="{C6400E8E-48F8-5588-03CF-2CEB688AB479}"/>
              </a:ext>
            </a:extLst>
          </p:cNvPr>
          <p:cNvSpPr txBox="1"/>
          <p:nvPr/>
        </p:nvSpPr>
        <p:spPr>
          <a:xfrm>
            <a:off x="838200" y="133096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 </a:t>
            </a:r>
          </a:p>
        </p:txBody>
      </p:sp>
      <p:pic>
        <p:nvPicPr>
          <p:cNvPr id="6" name="Picture 5">
            <a:extLst>
              <a:ext uri="{FF2B5EF4-FFF2-40B4-BE49-F238E27FC236}">
                <a16:creationId xmlns:a16="http://schemas.microsoft.com/office/drawing/2014/main" id="{1F0788C5-90CE-011A-D70C-DC2DA7066E15}"/>
              </a:ext>
            </a:extLst>
          </p:cNvPr>
          <p:cNvPicPr>
            <a:picLocks noChangeAspect="1"/>
          </p:cNvPicPr>
          <p:nvPr/>
        </p:nvPicPr>
        <p:blipFill>
          <a:blip r:embed="rId2"/>
          <a:stretch>
            <a:fillRect/>
          </a:stretch>
        </p:blipFill>
        <p:spPr>
          <a:xfrm>
            <a:off x="838200" y="1873905"/>
            <a:ext cx="11345573" cy="2179935"/>
          </a:xfrm>
          <a:prstGeom prst="rect">
            <a:avLst/>
          </a:prstGeom>
        </p:spPr>
      </p:pic>
      <p:sp>
        <p:nvSpPr>
          <p:cNvPr id="7" name="TextBox 6">
            <a:extLst>
              <a:ext uri="{FF2B5EF4-FFF2-40B4-BE49-F238E27FC236}">
                <a16:creationId xmlns:a16="http://schemas.microsoft.com/office/drawing/2014/main" id="{67D90E41-30D1-76D1-11BD-10444EC7C7B6}"/>
              </a:ext>
            </a:extLst>
          </p:cNvPr>
          <p:cNvSpPr txBox="1"/>
          <p:nvPr/>
        </p:nvSpPr>
        <p:spPr>
          <a:xfrm>
            <a:off x="838200" y="4216400"/>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 </a:t>
            </a:r>
          </a:p>
        </p:txBody>
      </p:sp>
      <p:pic>
        <p:nvPicPr>
          <p:cNvPr id="9" name="Picture 8">
            <a:extLst>
              <a:ext uri="{FF2B5EF4-FFF2-40B4-BE49-F238E27FC236}">
                <a16:creationId xmlns:a16="http://schemas.microsoft.com/office/drawing/2014/main" id="{414D7A1B-BEC4-4407-B56C-E05010940C46}"/>
              </a:ext>
            </a:extLst>
          </p:cNvPr>
          <p:cNvPicPr>
            <a:picLocks noChangeAspect="1"/>
          </p:cNvPicPr>
          <p:nvPr/>
        </p:nvPicPr>
        <p:blipFill>
          <a:blip r:embed="rId3"/>
          <a:srcRect b="10774"/>
          <a:stretch>
            <a:fillRect/>
          </a:stretch>
        </p:blipFill>
        <p:spPr>
          <a:xfrm>
            <a:off x="838200" y="4678065"/>
            <a:ext cx="6030167" cy="1351491"/>
          </a:xfrm>
          <a:prstGeom prst="rect">
            <a:avLst/>
          </a:prstGeom>
        </p:spPr>
      </p:pic>
    </p:spTree>
    <p:extLst>
      <p:ext uri="{BB962C8B-B14F-4D97-AF65-F5344CB8AC3E}">
        <p14:creationId xmlns:p14="http://schemas.microsoft.com/office/powerpoint/2010/main" val="4189019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D4B5-EFFD-93F7-39A2-70AF088D2EAF}"/>
              </a:ext>
            </a:extLst>
          </p:cNvPr>
          <p:cNvSpPr>
            <a:spLocks noGrp="1"/>
          </p:cNvSpPr>
          <p:nvPr>
            <p:ph type="title"/>
          </p:nvPr>
        </p:nvSpPr>
        <p:spPr>
          <a:xfrm>
            <a:off x="838200" y="681037"/>
            <a:ext cx="10515600" cy="610235"/>
          </a:xfrm>
        </p:spPr>
        <p:txBody>
          <a:bodyPr>
            <a:noAutofit/>
          </a:bodyPr>
          <a:lstStyle/>
          <a:p>
            <a:r>
              <a:rPr lang="en-IN" sz="2400" b="1" dirty="0"/>
              <a:t>7) </a:t>
            </a:r>
            <a:r>
              <a:rPr lang="en-US" sz="2400" b="1" dirty="0"/>
              <a:t>Retrieved the number of copies of books authored by Stephen King available in the Central branch.</a:t>
            </a:r>
            <a:endParaRPr lang="en-IN" sz="2400" b="1" dirty="0"/>
          </a:p>
        </p:txBody>
      </p:sp>
      <p:sp>
        <p:nvSpPr>
          <p:cNvPr id="4" name="TextBox 3">
            <a:extLst>
              <a:ext uri="{FF2B5EF4-FFF2-40B4-BE49-F238E27FC236}">
                <a16:creationId xmlns:a16="http://schemas.microsoft.com/office/drawing/2014/main" id="{5A7C9C1E-2EAA-C511-11EE-6915F1408B56}"/>
              </a:ext>
            </a:extLst>
          </p:cNvPr>
          <p:cNvSpPr txBox="1"/>
          <p:nvPr/>
        </p:nvSpPr>
        <p:spPr>
          <a:xfrm>
            <a:off x="838200" y="1371600"/>
            <a:ext cx="1125629"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Query:</a:t>
            </a:r>
            <a:r>
              <a:rPr lang="en-IN" sz="2400" dirty="0">
                <a:latin typeface="Calibri" panose="020F0502020204030204" pitchFamily="34" charset="0"/>
                <a:ea typeface="Calibri" panose="020F0502020204030204" pitchFamily="34" charset="0"/>
                <a:cs typeface="Calibri" panose="020F0502020204030204" pitchFamily="34" charset="0"/>
              </a:rPr>
              <a:t> </a:t>
            </a:r>
          </a:p>
        </p:txBody>
      </p:sp>
      <p:pic>
        <p:nvPicPr>
          <p:cNvPr id="6" name="Picture 5">
            <a:extLst>
              <a:ext uri="{FF2B5EF4-FFF2-40B4-BE49-F238E27FC236}">
                <a16:creationId xmlns:a16="http://schemas.microsoft.com/office/drawing/2014/main" id="{2811C716-6038-FF40-ABBD-05B123E5FBDE}"/>
              </a:ext>
            </a:extLst>
          </p:cNvPr>
          <p:cNvPicPr>
            <a:picLocks noChangeAspect="1"/>
          </p:cNvPicPr>
          <p:nvPr/>
        </p:nvPicPr>
        <p:blipFill>
          <a:blip r:embed="rId2"/>
          <a:stretch>
            <a:fillRect/>
          </a:stretch>
        </p:blipFill>
        <p:spPr>
          <a:xfrm>
            <a:off x="838200" y="1913593"/>
            <a:ext cx="7797800" cy="2318545"/>
          </a:xfrm>
          <a:prstGeom prst="rect">
            <a:avLst/>
          </a:prstGeom>
        </p:spPr>
      </p:pic>
      <p:pic>
        <p:nvPicPr>
          <p:cNvPr id="8" name="Picture 7">
            <a:extLst>
              <a:ext uri="{FF2B5EF4-FFF2-40B4-BE49-F238E27FC236}">
                <a16:creationId xmlns:a16="http://schemas.microsoft.com/office/drawing/2014/main" id="{09FCE374-A5BC-03E3-D72C-42E2DA87A8FC}"/>
              </a:ext>
            </a:extLst>
          </p:cNvPr>
          <p:cNvPicPr>
            <a:picLocks noChangeAspect="1"/>
          </p:cNvPicPr>
          <p:nvPr/>
        </p:nvPicPr>
        <p:blipFill>
          <a:blip r:embed="rId3"/>
          <a:stretch>
            <a:fillRect/>
          </a:stretch>
        </p:blipFill>
        <p:spPr>
          <a:xfrm>
            <a:off x="838200" y="4854459"/>
            <a:ext cx="3238952" cy="800212"/>
          </a:xfrm>
          <a:prstGeom prst="rect">
            <a:avLst/>
          </a:prstGeom>
        </p:spPr>
      </p:pic>
      <p:sp>
        <p:nvSpPr>
          <p:cNvPr id="9" name="TextBox 8">
            <a:extLst>
              <a:ext uri="{FF2B5EF4-FFF2-40B4-BE49-F238E27FC236}">
                <a16:creationId xmlns:a16="http://schemas.microsoft.com/office/drawing/2014/main" id="{AFB2837D-B6E6-7953-B26B-76AD2E784ECA}"/>
              </a:ext>
            </a:extLst>
          </p:cNvPr>
          <p:cNvSpPr txBox="1"/>
          <p:nvPr/>
        </p:nvSpPr>
        <p:spPr>
          <a:xfrm>
            <a:off x="838200" y="4392794"/>
            <a:ext cx="113845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Result:</a:t>
            </a:r>
            <a:r>
              <a:rPr lang="en-IN" sz="24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131077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B90E4-CA9C-62E8-9030-871578F8F70F}"/>
              </a:ext>
            </a:extLst>
          </p:cNvPr>
          <p:cNvSpPr>
            <a:spLocks noGrp="1"/>
          </p:cNvSpPr>
          <p:nvPr>
            <p:ph type="title"/>
          </p:nvPr>
        </p:nvSpPr>
        <p:spPr>
          <a:xfrm>
            <a:off x="838200" y="365125"/>
            <a:ext cx="10515600" cy="610235"/>
          </a:xfrm>
        </p:spPr>
        <p:txBody>
          <a:bodyPr>
            <a:normAutofit fontScale="90000"/>
          </a:bodyPr>
          <a:lstStyle/>
          <a:p>
            <a:br>
              <a:rPr lang="en-US"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br>
            <a:r>
              <a:rPr lang="en-US"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Final business insights and recommendations</a:t>
            </a:r>
            <a:br>
              <a:rPr lang="en-US" dirty="0"/>
            </a:br>
            <a:endParaRPr lang="en-IN" dirty="0"/>
          </a:p>
        </p:txBody>
      </p:sp>
      <p:sp>
        <p:nvSpPr>
          <p:cNvPr id="3" name="Text Placeholder 2">
            <a:extLst>
              <a:ext uri="{FF2B5EF4-FFF2-40B4-BE49-F238E27FC236}">
                <a16:creationId xmlns:a16="http://schemas.microsoft.com/office/drawing/2014/main" id="{34EE6C38-76E9-4766-9F26-97154898181D}"/>
              </a:ext>
            </a:extLst>
          </p:cNvPr>
          <p:cNvSpPr>
            <a:spLocks noGrp="1"/>
          </p:cNvSpPr>
          <p:nvPr>
            <p:ph type="body" idx="1"/>
          </p:nvPr>
        </p:nvSpPr>
        <p:spPr>
          <a:xfrm>
            <a:off x="838199" y="1083616"/>
            <a:ext cx="10714703" cy="5189365"/>
          </a:xfrm>
        </p:spPr>
        <p:txBody>
          <a:bodyPr>
            <a:normAutofit fontScale="77500" lnSpcReduction="20000"/>
          </a:bodyPr>
          <a:lstStyle/>
          <a:p>
            <a:pPr marL="114300" indent="0">
              <a:buNone/>
            </a:pPr>
            <a:r>
              <a:rPr lang="en-US" b="1" dirty="0">
                <a:latin typeface="Times New Roman" panose="02020603050405020304" pitchFamily="18" charset="0"/>
                <a:cs typeface="Times New Roman" panose="02020603050405020304" pitchFamily="18" charset="0"/>
              </a:rPr>
              <a:t> Insights: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Management can identify high-performing or underutilized branches and allocate staff and resources accordingly.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Certain borrowers frequently borrow books (power users).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Popular authors (e.g., Stephen King) have higher demand.</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library can detect inactive members, reward loyal readers, and enforce borrowing policies.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Due date tracking helps identify peak return days.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114300" indent="0">
              <a:buNone/>
            </a:pPr>
            <a:r>
              <a:rPr lang="en-US" b="1" dirty="0">
                <a:latin typeface="Times New Roman" panose="02020603050405020304" pitchFamily="18" charset="0"/>
                <a:cs typeface="Times New Roman" panose="02020603050405020304" pitchFamily="18" charset="0"/>
              </a:rPr>
              <a:t>Recommendations: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Implement automated low-stock alerts to prevent book shortages at branch level.</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 branch-wise loan data to optimize staff allocation and operating hours.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Launch engagement campaigns to reactivate inactive borrowers.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Introduce automated due-date reminders to reduce late returns and penalties.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Analyze author and genre trends regularly to guide future procurement decisions.</a:t>
            </a:r>
          </a:p>
          <a:p>
            <a:endParaRPr lang="en-IN" dirty="0"/>
          </a:p>
        </p:txBody>
      </p:sp>
    </p:spTree>
    <p:extLst>
      <p:ext uri="{BB962C8B-B14F-4D97-AF65-F5344CB8AC3E}">
        <p14:creationId xmlns:p14="http://schemas.microsoft.com/office/powerpoint/2010/main" val="98580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F429-E279-A637-CBF6-0D04E3DC7209}"/>
              </a:ext>
            </a:extLst>
          </p:cNvPr>
          <p:cNvSpPr>
            <a:spLocks noGrp="1"/>
          </p:cNvSpPr>
          <p:nvPr>
            <p:ph type="title"/>
          </p:nvPr>
        </p:nvSpPr>
        <p:spPr>
          <a:xfrm>
            <a:off x="838200" y="598805"/>
            <a:ext cx="10515600" cy="772795"/>
          </a:xfrm>
        </p:spPr>
        <p:txBody>
          <a:bodyPr>
            <a:normAutofit/>
          </a:bodyPr>
          <a:lstStyle/>
          <a:p>
            <a:r>
              <a:rPr lang="en-IN" sz="40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Conclusion</a:t>
            </a:r>
            <a:endParaRPr lang="en-IN" sz="4000" dirty="0">
              <a:solidFill>
                <a:srgbClr val="EA0000"/>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4" name="Rectangle 1">
            <a:extLst>
              <a:ext uri="{FF2B5EF4-FFF2-40B4-BE49-F238E27FC236}">
                <a16:creationId xmlns:a16="http://schemas.microsoft.com/office/drawing/2014/main" id="{8C8044FC-045B-59F7-3E34-A1A3AD6E76EC}"/>
              </a:ext>
            </a:extLst>
          </p:cNvPr>
          <p:cNvSpPr>
            <a:spLocks noGrp="1" noChangeArrowheads="1"/>
          </p:cNvSpPr>
          <p:nvPr>
            <p:ph type="body" idx="1"/>
          </p:nvPr>
        </p:nvSpPr>
        <p:spPr bwMode="auto">
          <a:xfrm>
            <a:off x="838200" y="1585486"/>
            <a:ext cx="10455106"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designed and implemented a normalized relational database.</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Established strong foreign key relationships.</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Performed real-world analytical queries.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Demonstrated use of:</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JOIN, GROUP BY</a:t>
            </a:r>
            <a:r>
              <a:rPr lang="en-US" altLang="en-US" sz="2600" dirty="0">
                <a:solidFill>
                  <a:schemeClr val="tx1"/>
                </a:solidFill>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HAVING</a:t>
            </a:r>
            <a:r>
              <a:rPr lang="en-US" altLang="en-US" sz="2600" dirty="0">
                <a:solidFill>
                  <a:schemeClr val="tx1"/>
                </a:solidFill>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Aggregation functions, Date filtering</a:t>
            </a: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raw dataset into meaningful business insights.</a:t>
            </a:r>
          </a:p>
        </p:txBody>
      </p:sp>
    </p:spTree>
    <p:extLst>
      <p:ext uri="{BB962C8B-B14F-4D97-AF65-F5344CB8AC3E}">
        <p14:creationId xmlns:p14="http://schemas.microsoft.com/office/powerpoint/2010/main" val="875906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A5AB5-E54B-893E-4358-32D2B663756A}"/>
              </a:ext>
            </a:extLst>
          </p:cNvPr>
          <p:cNvSpPr>
            <a:spLocks noGrp="1"/>
          </p:cNvSpPr>
          <p:nvPr>
            <p:ph type="title"/>
          </p:nvPr>
        </p:nvSpPr>
        <p:spPr>
          <a:xfrm>
            <a:off x="838200" y="283845"/>
            <a:ext cx="10876280" cy="1148715"/>
          </a:xfrm>
        </p:spPr>
        <p:txBody>
          <a:bodyPr>
            <a:normAutofit fontScale="90000"/>
          </a:bodyPr>
          <a:lstStyle/>
          <a:p>
            <a:br>
              <a:rPr lang="en-US" b="1" dirty="0">
                <a:latin typeface="Lato Black" panose="020F0502020204030203" pitchFamily="34" charset="0"/>
                <a:ea typeface="Lato Black" panose="020F0502020204030203" pitchFamily="34" charset="0"/>
                <a:cs typeface="Lato Black" panose="020F0502020204030203" pitchFamily="34" charset="0"/>
              </a:rPr>
            </a:br>
            <a:r>
              <a:rPr lang="en-US" sz="4000" b="1" dirty="0">
                <a:solidFill>
                  <a:srgbClr val="EA0000"/>
                </a:solidFill>
                <a:latin typeface="Lato Black" panose="020F0502020204030203" pitchFamily="34" charset="0"/>
                <a:ea typeface="Lato Black" panose="020F0502020204030203" pitchFamily="34" charset="0"/>
                <a:cs typeface="Lato Black" panose="020F0502020204030203" pitchFamily="34" charset="0"/>
              </a:rPr>
              <a:t>Experience/Challenges working on SQL – Data Analysis Project.</a:t>
            </a:r>
            <a:br>
              <a:rPr lang="en-US" dirty="0"/>
            </a:br>
            <a:endParaRPr lang="en-IN" dirty="0"/>
          </a:p>
        </p:txBody>
      </p:sp>
      <p:sp>
        <p:nvSpPr>
          <p:cNvPr id="3" name="Text Placeholder 2">
            <a:extLst>
              <a:ext uri="{FF2B5EF4-FFF2-40B4-BE49-F238E27FC236}">
                <a16:creationId xmlns:a16="http://schemas.microsoft.com/office/drawing/2014/main" id="{3CE9491C-028B-B7F4-8BDD-557F399BCBB2}"/>
              </a:ext>
            </a:extLst>
          </p:cNvPr>
          <p:cNvSpPr>
            <a:spLocks noGrp="1"/>
          </p:cNvSpPr>
          <p:nvPr>
            <p:ph type="body" idx="1"/>
          </p:nvPr>
        </p:nvSpPr>
        <p:spPr>
          <a:xfrm>
            <a:off x="838200" y="1513840"/>
            <a:ext cx="10622280" cy="4734560"/>
          </a:xfrm>
        </p:spPr>
        <p:txBody>
          <a:bodyPr>
            <a:normAutofit fontScale="85000" lnSpcReduction="20000"/>
          </a:bodyPr>
          <a:lstStyle/>
          <a:p>
            <a:pPr marL="114300" indent="0">
              <a:buNone/>
            </a:pPr>
            <a:r>
              <a:rPr lang="en-IN" b="1" dirty="0">
                <a:latin typeface="Times New Roman" panose="02020603050405020304" pitchFamily="18" charset="0"/>
                <a:cs typeface="Times New Roman" panose="02020603050405020304" pitchFamily="18" charset="0"/>
              </a:rPr>
              <a:t>Challenges Faced:</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Date format issues during CSV import.</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Foreign key constraints preventing table deletion.</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Understanding JOIN relationships.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Faced Encoding(UTF-8) issues while importing the CSV files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Handling AUTO_INCREMENT behaviour.</a:t>
            </a:r>
          </a:p>
          <a:p>
            <a:pPr marL="114300" indent="0">
              <a:buNone/>
            </a:pPr>
            <a:endParaRPr lang="en-IN" b="1" dirty="0">
              <a:latin typeface="Times New Roman" panose="02020603050405020304" pitchFamily="18" charset="0"/>
              <a:cs typeface="Times New Roman" panose="02020603050405020304" pitchFamily="18" charset="0"/>
            </a:endParaRPr>
          </a:p>
          <a:p>
            <a:pPr marL="114300" indent="0">
              <a:buNone/>
            </a:pPr>
            <a:r>
              <a:rPr lang="en-IN" b="1" dirty="0">
                <a:latin typeface="Times New Roman" panose="02020603050405020304" pitchFamily="18" charset="0"/>
                <a:cs typeface="Times New Roman" panose="02020603050405020304" pitchFamily="18" charset="0"/>
              </a:rPr>
              <a:t>Learning Outcomes: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Strong understanding of relational schema.</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Improved debugging skills in SQL.</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Practical knowledge of data import issues.</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Better understanding of normalization and constraints.</a:t>
            </a:r>
          </a:p>
          <a:p>
            <a:endParaRPr lang="en-IN" dirty="0"/>
          </a:p>
        </p:txBody>
      </p:sp>
    </p:spTree>
    <p:extLst>
      <p:ext uri="{BB962C8B-B14F-4D97-AF65-F5344CB8AC3E}">
        <p14:creationId xmlns:p14="http://schemas.microsoft.com/office/powerpoint/2010/main" val="3945747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9DBD-D356-2045-0224-C39C2E3E10C7}"/>
              </a:ext>
            </a:extLst>
          </p:cNvPr>
          <p:cNvSpPr>
            <a:spLocks noGrp="1"/>
          </p:cNvSpPr>
          <p:nvPr>
            <p:ph type="title"/>
          </p:nvPr>
        </p:nvSpPr>
        <p:spPr>
          <a:xfrm>
            <a:off x="759542" y="2172263"/>
            <a:ext cx="10515600" cy="1325563"/>
          </a:xfrm>
        </p:spPr>
        <p:txBody>
          <a:bodyPr/>
          <a:lstStyle/>
          <a:p>
            <a:pPr algn="ctr"/>
            <a:r>
              <a:rPr lang="en-IN" b="1" dirty="0">
                <a:solidFill>
                  <a:srgbClr val="EA0000"/>
                </a:solidFill>
              </a:rPr>
              <a:t>Any Queries?</a:t>
            </a:r>
          </a:p>
        </p:txBody>
      </p:sp>
    </p:spTree>
    <p:extLst>
      <p:ext uri="{BB962C8B-B14F-4D97-AF65-F5344CB8AC3E}">
        <p14:creationId xmlns:p14="http://schemas.microsoft.com/office/powerpoint/2010/main" val="1413402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966</Words>
  <Application>Microsoft Office PowerPoint</Application>
  <PresentationFormat>Widescreen</PresentationFormat>
  <Paragraphs>136</Paragraphs>
  <Slides>20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Times New Roman</vt:lpstr>
      <vt:lpstr>Wingdings</vt:lpstr>
      <vt:lpstr>Lato Black</vt:lpstr>
      <vt:lpstr>Libre Baskerville</vt:lpstr>
      <vt:lpstr>Office Theme</vt:lpstr>
      <vt:lpstr>PowerPoint Presentation</vt:lpstr>
      <vt:lpstr>Agenda (This should be the PPT flow)  </vt:lpstr>
      <vt:lpstr>Business Problem Statement</vt:lpstr>
      <vt:lpstr>Introduction</vt:lpstr>
      <vt:lpstr>Objective of the Project</vt:lpstr>
      <vt:lpstr> ER Diagram and schema </vt:lpstr>
      <vt:lpstr>ER Diagram and schema</vt:lpstr>
      <vt:lpstr> Key analysis questions (use cases) </vt:lpstr>
      <vt:lpstr>SQL query results  1) Retrieved the number of copies of “The Lost Tribe” available in the Sharpstown branch.</vt:lpstr>
      <vt:lpstr>2) Calculated “The Lost Tribe” book copies owned by each library branch.</vt:lpstr>
      <vt:lpstr>3) Identified borrowers who currently have no books checked out using LEFT JOIN.</vt:lpstr>
      <vt:lpstr>4) Retrieved books due on a specific date from a specific branch.</vt:lpstr>
      <vt:lpstr>5) Calculated total books loaned from each branch using aggregation functions. </vt:lpstr>
      <vt:lpstr>6) Retrieved the details of all borrowers who checked out more than 5 books</vt:lpstr>
      <vt:lpstr>7) Retrieved the number of copies of books authored by Stephen King available in the Central branch.</vt:lpstr>
      <vt:lpstr> Final business insights and recommendations </vt:lpstr>
      <vt:lpstr>Conclusion</vt:lpstr>
      <vt:lpstr> Experience/Challenges working on SQL – Data Analysis Project. </vt:lpstr>
      <vt:lpstr>Any Queries?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Kilari Tharun Tej</cp:lastModifiedBy>
  <cp:revision>3</cp:revision>
  <dcterms:created xsi:type="dcterms:W3CDTF">2021-02-16T05:19:01Z</dcterms:created>
  <dcterms:modified xsi:type="dcterms:W3CDTF">2026-02-13T11:38:54Z</dcterms:modified>
</cp:coreProperties>
</file>